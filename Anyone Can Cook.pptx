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aleway"/>
      <p:regular r:id="rId15"/>
      <p:bold r:id="rId16"/>
      <p:italic r:id="rId17"/>
      <p:boldItalic r:id="rId18"/>
    </p:embeddedFont>
    <p:embeddedFont>
      <p:font typeface="La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1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16"/>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11" Type="http://schemas.openxmlformats.org/officeDocument/2006/relationships/slide" Target="slides/slide6.xml"/><Relationship Id="rId22" Type="http://schemas.openxmlformats.org/officeDocument/2006/relationships/font" Target="fonts/Lato-boldItalic.fntdata"/><Relationship Id="rId10" Type="http://schemas.openxmlformats.org/officeDocument/2006/relationships/slide" Target="slides/slide5.xml"/><Relationship Id="rId21"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regular.fntdata"/><Relationship Id="rId14" Type="http://schemas.openxmlformats.org/officeDocument/2006/relationships/slide" Target="slides/slide9.xml"/><Relationship Id="rId17" Type="http://schemas.openxmlformats.org/officeDocument/2006/relationships/font" Target="fonts/Raleway-italic.fntdata"/><Relationship Id="rId16" Type="http://schemas.openxmlformats.org/officeDocument/2006/relationships/font" Target="fonts/Raleway-bold.fntdata"/><Relationship Id="rId5" Type="http://schemas.openxmlformats.org/officeDocument/2006/relationships/notesMaster" Target="notesMasters/notesMaster1.xml"/><Relationship Id="rId19" Type="http://schemas.openxmlformats.org/officeDocument/2006/relationships/font" Target="fonts/Lato-regular.fntdata"/><Relationship Id="rId6" Type="http://schemas.openxmlformats.org/officeDocument/2006/relationships/slide" Target="slides/slide1.xml"/><Relationship Id="rId18" Type="http://schemas.openxmlformats.org/officeDocument/2006/relationships/font" Target="fonts/Raleway-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c8c22b204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c8c22b204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c91fef809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c91fef809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c91fef80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c91fef80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c90d43330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c90d43330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c90d4333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c90d4333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c90d43330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c90d43330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c91fef809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c91fef809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c91fef809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c91fef809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Anyone Can Cook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Team Roles for Project 3: - Sree</a:t>
            </a:r>
            <a:endParaRPr/>
          </a:p>
        </p:txBody>
      </p:sp>
      <p:sp>
        <p:nvSpPr>
          <p:cNvPr id="92" name="Google Shape;92;p14"/>
          <p:cNvSpPr txBox="1"/>
          <p:nvPr>
            <p:ph idx="1" type="body"/>
          </p:nvPr>
        </p:nvSpPr>
        <p:spPr>
          <a:xfrm>
            <a:off x="729450" y="1793750"/>
            <a:ext cx="7688700" cy="28707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Katherine- Senior Coder</a:t>
            </a:r>
            <a:endParaRPr sz="1500"/>
          </a:p>
          <a:p>
            <a:pPr indent="-317500" lvl="0" marL="457200" rtl="0" algn="l">
              <a:spcBef>
                <a:spcPts val="0"/>
              </a:spcBef>
              <a:spcAft>
                <a:spcPts val="0"/>
              </a:spcAft>
              <a:buSzPts val="1400"/>
              <a:buChar char="●"/>
            </a:pPr>
            <a:r>
              <a:rPr lang="en" sz="1500"/>
              <a:t>Brooke- Senior Coder</a:t>
            </a:r>
            <a:endParaRPr sz="1500"/>
          </a:p>
          <a:p>
            <a:pPr indent="-317500" lvl="0" marL="457200" rtl="0" algn="l">
              <a:spcBef>
                <a:spcPts val="0"/>
              </a:spcBef>
              <a:spcAft>
                <a:spcPts val="0"/>
              </a:spcAft>
              <a:buSzPts val="1400"/>
              <a:buChar char="●"/>
            </a:pPr>
            <a:r>
              <a:rPr lang="en" sz="1500"/>
              <a:t>Valerie - Project Manager and Junior Coder</a:t>
            </a:r>
            <a:endParaRPr sz="1500"/>
          </a:p>
          <a:p>
            <a:pPr indent="-323850" lvl="0" marL="457200" rtl="0" algn="l">
              <a:spcBef>
                <a:spcPts val="0"/>
              </a:spcBef>
              <a:spcAft>
                <a:spcPts val="0"/>
              </a:spcAft>
              <a:buSzPts val="1500"/>
              <a:buChar char="●"/>
            </a:pPr>
            <a:r>
              <a:rPr lang="en" sz="1500"/>
              <a:t>Rebekah- Web Designer</a:t>
            </a:r>
            <a:endParaRPr sz="1500"/>
          </a:p>
          <a:p>
            <a:pPr indent="-323850" lvl="0" marL="457200" rtl="0" algn="l">
              <a:spcBef>
                <a:spcPts val="0"/>
              </a:spcBef>
              <a:spcAft>
                <a:spcPts val="0"/>
              </a:spcAft>
              <a:buSzPts val="1500"/>
              <a:buChar char="●"/>
            </a:pPr>
            <a:r>
              <a:rPr lang="en" sz="1500"/>
              <a:t>Sree- User Experience and Researcher</a:t>
            </a:r>
            <a:endParaRPr sz="1500"/>
          </a:p>
          <a:p>
            <a:pPr indent="0" lvl="0" marL="457200" rtl="0" algn="l">
              <a:spcBef>
                <a:spcPts val="1200"/>
              </a:spcBef>
              <a:spcAft>
                <a:spcPts val="1200"/>
              </a:spcAft>
              <a:buNone/>
            </a:pPr>
            <a:r>
              <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Goals after Project 2: - Sree</a:t>
            </a:r>
            <a:endParaRPr/>
          </a:p>
        </p:txBody>
      </p:sp>
      <p:sp>
        <p:nvSpPr>
          <p:cNvPr id="98" name="Google Shape;98;p15"/>
          <p:cNvSpPr txBox="1"/>
          <p:nvPr>
            <p:ph idx="1" type="body"/>
          </p:nvPr>
        </p:nvSpPr>
        <p:spPr>
          <a:xfrm>
            <a:off x="729450" y="1793750"/>
            <a:ext cx="7688700" cy="28707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We loved the concept of Anyone Can Cook and were dedicated to continuing Project 2 into the final project</a:t>
            </a:r>
            <a:endParaRPr sz="1500"/>
          </a:p>
          <a:p>
            <a:pPr indent="-323850" lvl="0" marL="457200" rtl="0" algn="l">
              <a:spcBef>
                <a:spcPts val="0"/>
              </a:spcBef>
              <a:spcAft>
                <a:spcPts val="0"/>
              </a:spcAft>
              <a:buSzPts val="1500"/>
              <a:buChar char="●"/>
            </a:pPr>
            <a:r>
              <a:rPr lang="en" sz="1500"/>
              <a:t>As you will recall from our past project we used 3 data sources: Kaggle Data, Data from Spoonacular API, Data from the Giant Website (put into AWS)-- Now also google api and mapbox</a:t>
            </a:r>
            <a:endParaRPr sz="1500"/>
          </a:p>
          <a:p>
            <a:pPr indent="-323850" lvl="0" marL="457200" rtl="0" algn="l">
              <a:spcBef>
                <a:spcPts val="0"/>
              </a:spcBef>
              <a:spcAft>
                <a:spcPts val="0"/>
              </a:spcAft>
              <a:buSzPts val="1500"/>
              <a:buChar char="●"/>
            </a:pPr>
            <a:r>
              <a:rPr lang="en" sz="1500"/>
              <a:t>We created multiple endpoints to pass data back and forth to allow for maximum user input and control</a:t>
            </a:r>
            <a:endParaRPr sz="1500"/>
          </a:p>
          <a:p>
            <a:pPr indent="-323850" lvl="0" marL="457200" rtl="0" algn="l">
              <a:spcBef>
                <a:spcPts val="0"/>
              </a:spcBef>
              <a:spcAft>
                <a:spcPts val="0"/>
              </a:spcAft>
              <a:buSzPts val="1500"/>
              <a:buChar char="●"/>
            </a:pPr>
            <a:r>
              <a:rPr lang="en" sz="1500"/>
              <a:t>Wanted to make the website more sophisticated:</a:t>
            </a:r>
            <a:r>
              <a:rPr lang="en" sz="1300"/>
              <a:t>Improve the look, user experience, and  the functionality of the website</a:t>
            </a:r>
            <a:endParaRPr sz="1300"/>
          </a:p>
          <a:p>
            <a:pPr indent="-317500" lvl="0" marL="457200" rtl="0" algn="l">
              <a:spcBef>
                <a:spcPts val="0"/>
              </a:spcBef>
              <a:spcAft>
                <a:spcPts val="0"/>
              </a:spcAft>
              <a:buSzPts val="1400"/>
              <a:buChar char="●"/>
            </a:pPr>
            <a:r>
              <a:rPr lang="en" sz="1400"/>
              <a:t>Wanted to make the  actual experience of using the website much smoother - better directions, better flow of the overall site; something that was visually not too overwhelming and allowed someone to easily plan out their meals. Also enhance our branding.</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615400" y="6686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Goals to use more functionality and Web Design - Rebekah</a:t>
            </a:r>
            <a:endParaRPr/>
          </a:p>
        </p:txBody>
      </p:sp>
      <p:sp>
        <p:nvSpPr>
          <p:cNvPr id="104" name="Google Shape;104;p16"/>
          <p:cNvSpPr txBox="1"/>
          <p:nvPr>
            <p:ph idx="1" type="body"/>
          </p:nvPr>
        </p:nvSpPr>
        <p:spPr>
          <a:xfrm>
            <a:off x="445550" y="1608000"/>
            <a:ext cx="8801400" cy="35355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Navigate through multiple pages</a:t>
            </a:r>
            <a:endParaRPr/>
          </a:p>
          <a:p>
            <a:pPr indent="-311150" lvl="0" marL="457200" rtl="0" algn="l">
              <a:spcBef>
                <a:spcPts val="0"/>
              </a:spcBef>
              <a:spcAft>
                <a:spcPts val="0"/>
              </a:spcAft>
              <a:buSzPts val="1300"/>
              <a:buChar char="●"/>
            </a:pPr>
            <a:r>
              <a:rPr lang="en"/>
              <a:t>Understand ingredients needed in one’s pantry overall and when cooking by cuisine</a:t>
            </a:r>
            <a:endParaRPr/>
          </a:p>
          <a:p>
            <a:pPr indent="-311150" lvl="0" marL="457200" rtl="0" algn="l">
              <a:spcBef>
                <a:spcPts val="0"/>
              </a:spcBef>
              <a:spcAft>
                <a:spcPts val="0"/>
              </a:spcAft>
              <a:buSzPts val="1300"/>
              <a:buChar char="●"/>
            </a:pPr>
            <a:r>
              <a:rPr lang="en"/>
              <a:t>User ability to plan for a full week</a:t>
            </a:r>
            <a:endParaRPr/>
          </a:p>
          <a:p>
            <a:pPr indent="-311150" lvl="0" marL="457200" rtl="0" algn="l">
              <a:spcBef>
                <a:spcPts val="0"/>
              </a:spcBef>
              <a:spcAft>
                <a:spcPts val="0"/>
              </a:spcAft>
              <a:buSzPts val="1300"/>
              <a:buChar char="●"/>
            </a:pPr>
            <a:r>
              <a:rPr lang="en"/>
              <a:t>Ability to get an estimated total cost for week’s groceries</a:t>
            </a:r>
            <a:endParaRPr/>
          </a:p>
          <a:p>
            <a:pPr indent="-311150" lvl="0" marL="457200" rtl="0" algn="l">
              <a:spcBef>
                <a:spcPts val="0"/>
              </a:spcBef>
              <a:spcAft>
                <a:spcPts val="0"/>
              </a:spcAft>
              <a:buSzPts val="1300"/>
              <a:buChar char="●"/>
            </a:pPr>
            <a:r>
              <a:rPr lang="en"/>
              <a:t>Identify nearest Giant location</a:t>
            </a:r>
            <a:endParaRPr/>
          </a:p>
          <a:p>
            <a:pPr indent="-311150" lvl="0" marL="457200" rtl="0" algn="l">
              <a:spcBef>
                <a:spcPts val="0"/>
              </a:spcBef>
              <a:spcAft>
                <a:spcPts val="0"/>
              </a:spcAft>
              <a:buSzPts val="1300"/>
              <a:buChar char="●"/>
            </a:pPr>
            <a:r>
              <a:rPr lang="en"/>
              <a:t>Ability to get recommendations based on your selections for the next week</a:t>
            </a:r>
            <a:endParaRPr/>
          </a:p>
          <a:p>
            <a:pPr indent="-311150" lvl="0" marL="457200" rtl="0" algn="l">
              <a:spcBef>
                <a:spcPts val="0"/>
              </a:spcBef>
              <a:spcAft>
                <a:spcPts val="0"/>
              </a:spcAft>
              <a:buSzPts val="1300"/>
              <a:buChar char="●"/>
            </a:pPr>
            <a:r>
              <a:rPr lang="en"/>
              <a:t>Ability to print your list to take with </a:t>
            </a:r>
            <a:r>
              <a:rPr lang="en"/>
              <a:t>you</a:t>
            </a:r>
            <a:r>
              <a:rPr lang="en"/>
              <a:t> to the store!</a:t>
            </a:r>
            <a:endParaRPr/>
          </a:p>
          <a:p>
            <a:pPr indent="0" lvl="0" marL="0" rtl="0" algn="l">
              <a:spcBef>
                <a:spcPts val="1200"/>
              </a:spcBef>
              <a:spcAft>
                <a:spcPts val="0"/>
              </a:spcAft>
              <a:buNone/>
            </a:pPr>
            <a:r>
              <a:rPr lang="en"/>
              <a:t>AND in terms of tools...wanted to make better use of the API, use graph and mapping functions, design templates</a:t>
            </a:r>
            <a:endParaRPr/>
          </a:p>
          <a:p>
            <a:pPr indent="0" lvl="0" marL="0" rtl="0" algn="l">
              <a:spcBef>
                <a:spcPts val="1200"/>
              </a:spcBef>
              <a:spcAft>
                <a:spcPts val="0"/>
              </a:spcAft>
              <a:buNone/>
            </a:pPr>
            <a:r>
              <a:rPr lang="en"/>
              <a:t>From Web Design perspective: wanted a professional look, use of pictures that were inviting, design that better allowed for rendering visualizations in an effective way. Experience that had more vertical than </a:t>
            </a:r>
            <a:r>
              <a:rPr lang="en"/>
              <a:t>horizontal</a:t>
            </a:r>
            <a:r>
              <a:rPr lang="en"/>
              <a:t> design</a:t>
            </a:r>
            <a:endParaRPr/>
          </a:p>
          <a:p>
            <a:pPr indent="0" lvl="0" marL="45720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Completely new feature: Build My Pantry Page! - Val </a:t>
            </a:r>
            <a:endParaRPr/>
          </a:p>
        </p:txBody>
      </p:sp>
      <p:sp>
        <p:nvSpPr>
          <p:cNvPr id="110" name="Google Shape;110;p17"/>
          <p:cNvSpPr txBox="1"/>
          <p:nvPr>
            <p:ph idx="1" type="body"/>
          </p:nvPr>
        </p:nvSpPr>
        <p:spPr>
          <a:xfrm>
            <a:off x="727650" y="1853850"/>
            <a:ext cx="7688700" cy="2261100"/>
          </a:xfrm>
          <a:prstGeom prst="rect">
            <a:avLst/>
          </a:prstGeom>
        </p:spPr>
        <p:txBody>
          <a:bodyPr anchorCtr="0" anchor="t" bIns="91425" lIns="91425" spcFirstLastPara="1" rIns="91425" wrap="square" tIns="91425">
            <a:noAutofit/>
          </a:bodyPr>
          <a:lstStyle/>
          <a:p>
            <a:pPr indent="-317976" lvl="0" marL="457200" rtl="0" algn="l">
              <a:lnSpc>
                <a:spcPct val="95000"/>
              </a:lnSpc>
              <a:spcBef>
                <a:spcPts val="0"/>
              </a:spcBef>
              <a:spcAft>
                <a:spcPts val="0"/>
              </a:spcAft>
              <a:buSzPts val="1408"/>
              <a:buChar char="-"/>
            </a:pPr>
            <a:r>
              <a:rPr lang="en" sz="1407"/>
              <a:t>The Build My Pantry page is designed around helping home cooks build a functional pantry at home that they can truly cook from. </a:t>
            </a:r>
            <a:endParaRPr sz="1407"/>
          </a:p>
          <a:p>
            <a:pPr indent="-317976" lvl="0" marL="457200" rtl="0" algn="l">
              <a:lnSpc>
                <a:spcPct val="95000"/>
              </a:lnSpc>
              <a:spcBef>
                <a:spcPts val="0"/>
              </a:spcBef>
              <a:spcAft>
                <a:spcPts val="0"/>
              </a:spcAft>
              <a:buSzPts val="1408"/>
              <a:buChar char="-"/>
            </a:pPr>
            <a:r>
              <a:rPr lang="en" sz="1407"/>
              <a:t>There is a list of the most common ingredients across cuisines - these are the ingredients that we recommend you always have on hand as they can be used in various cuisines and various dishes, meaning you can always throw something together with them! </a:t>
            </a:r>
            <a:endParaRPr sz="1407"/>
          </a:p>
          <a:p>
            <a:pPr indent="-317976" lvl="0" marL="457200" rtl="0" algn="l">
              <a:lnSpc>
                <a:spcPct val="95000"/>
              </a:lnSpc>
              <a:spcBef>
                <a:spcPts val="0"/>
              </a:spcBef>
              <a:spcAft>
                <a:spcPts val="0"/>
              </a:spcAft>
              <a:buSzPts val="1408"/>
              <a:buChar char="-"/>
            </a:pPr>
            <a:r>
              <a:rPr lang="en" sz="1407"/>
              <a:t>Also, its good to know which ingredients are least used, so you arent buying something you will use once and have sit on the shelf until it expires!</a:t>
            </a:r>
            <a:endParaRPr sz="1407"/>
          </a:p>
          <a:p>
            <a:pPr indent="-317976" lvl="0" marL="457200" rtl="0" algn="l">
              <a:lnSpc>
                <a:spcPct val="95000"/>
              </a:lnSpc>
              <a:spcBef>
                <a:spcPts val="0"/>
              </a:spcBef>
              <a:spcAft>
                <a:spcPts val="0"/>
              </a:spcAft>
              <a:buSzPts val="1408"/>
              <a:buChar char="-"/>
            </a:pPr>
            <a:r>
              <a:rPr lang="en" sz="1407"/>
              <a:t>We created visualizations of the most common ingredients across cuisines - sampled 100 dishes from each cuisine and these were the most common, after omitting ingredients from our “general” list. </a:t>
            </a:r>
            <a:endParaRPr sz="1407"/>
          </a:p>
          <a:p>
            <a:pPr indent="-317976" lvl="0" marL="457200" rtl="0" algn="l">
              <a:lnSpc>
                <a:spcPct val="95000"/>
              </a:lnSpc>
              <a:spcBef>
                <a:spcPts val="0"/>
              </a:spcBef>
              <a:spcAft>
                <a:spcPts val="0"/>
              </a:spcAft>
              <a:buSzPts val="1408"/>
              <a:buChar char="-"/>
            </a:pPr>
            <a:r>
              <a:rPr lang="en" sz="1407"/>
              <a:t>Here we are showing ingredients that showed up in at least 10% of the recipes reviewed</a:t>
            </a:r>
            <a:endParaRPr sz="1407"/>
          </a:p>
          <a:p>
            <a:pPr indent="-308133" lvl="1" marL="914400" rtl="0" algn="l">
              <a:lnSpc>
                <a:spcPct val="95000"/>
              </a:lnSpc>
              <a:spcBef>
                <a:spcPts val="0"/>
              </a:spcBef>
              <a:spcAft>
                <a:spcPts val="0"/>
              </a:spcAft>
              <a:buSzPts val="1253"/>
              <a:buChar char="-"/>
            </a:pPr>
            <a:r>
              <a:rPr lang="en" sz="1252"/>
              <a:t>These visualzations can help you build your pantry around any cuisines you know you enjoy, ensuring you have a pantry you truly enjoy cooking from! </a:t>
            </a:r>
            <a:endParaRPr sz="1252"/>
          </a:p>
          <a:p>
            <a:pPr indent="-308133" lvl="1" marL="914400" rtl="0" algn="l">
              <a:lnSpc>
                <a:spcPct val="95000"/>
              </a:lnSpc>
              <a:spcBef>
                <a:spcPts val="0"/>
              </a:spcBef>
              <a:spcAft>
                <a:spcPts val="0"/>
              </a:spcAft>
              <a:buSzPts val="1253"/>
              <a:buChar char="-"/>
            </a:pPr>
            <a:r>
              <a:rPr lang="en" sz="1252"/>
              <a:t>Review the </a:t>
            </a:r>
            <a:r>
              <a:rPr lang="en" sz="1252"/>
              <a:t>common</a:t>
            </a:r>
            <a:r>
              <a:rPr lang="en" sz="1252"/>
              <a:t> list of things</a:t>
            </a:r>
            <a:endParaRPr sz="1252"/>
          </a:p>
          <a:p>
            <a:pPr indent="-308133" lvl="1" marL="914400" rtl="0" algn="l">
              <a:lnSpc>
                <a:spcPct val="95000"/>
              </a:lnSpc>
              <a:spcBef>
                <a:spcPts val="0"/>
              </a:spcBef>
              <a:spcAft>
                <a:spcPts val="0"/>
              </a:spcAft>
              <a:buSzPts val="1253"/>
              <a:buChar char="-"/>
            </a:pPr>
            <a:r>
              <a:rPr lang="en" sz="1252"/>
              <a:t>Review interesting </a:t>
            </a:r>
            <a:r>
              <a:rPr lang="en" sz="1252"/>
              <a:t>ingredients</a:t>
            </a:r>
            <a:r>
              <a:rPr lang="en" sz="1252"/>
              <a:t> by hovering over the different </a:t>
            </a:r>
            <a:r>
              <a:rPr lang="en" sz="1252"/>
              <a:t>cuisines</a:t>
            </a:r>
            <a:r>
              <a:rPr lang="en" sz="1252"/>
              <a:t>.</a:t>
            </a:r>
            <a:endParaRPr sz="1252"/>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Major Improvement #1: Plan My Week- Brooke</a:t>
            </a:r>
            <a:endParaRPr/>
          </a:p>
        </p:txBody>
      </p:sp>
      <p:sp>
        <p:nvSpPr>
          <p:cNvPr id="116" name="Google Shape;116;p18"/>
          <p:cNvSpPr txBox="1"/>
          <p:nvPr>
            <p:ph idx="1" type="body"/>
          </p:nvPr>
        </p:nvSpPr>
        <p:spPr>
          <a:xfrm>
            <a:off x="729450" y="2078875"/>
            <a:ext cx="8154900" cy="29391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t>Changed up </a:t>
            </a:r>
            <a:r>
              <a:rPr lang="en" sz="1500"/>
              <a:t>search</a:t>
            </a:r>
            <a:r>
              <a:rPr lang="en" sz="1500"/>
              <a:t> fields based on last project-- shout out to Christina who wanted us to add in ability to search by diet types like keto, vegetarian etc. </a:t>
            </a:r>
            <a:endParaRPr sz="1500"/>
          </a:p>
          <a:p>
            <a:pPr indent="-323850" lvl="0" marL="457200" rtl="0" algn="l">
              <a:spcBef>
                <a:spcPts val="0"/>
              </a:spcBef>
              <a:spcAft>
                <a:spcPts val="0"/>
              </a:spcAft>
              <a:buSzPts val="1500"/>
              <a:buChar char="-"/>
            </a:pPr>
            <a:r>
              <a:rPr lang="en" sz="1500"/>
              <a:t>Plan out your meals for the week by day! </a:t>
            </a:r>
            <a:endParaRPr sz="1500"/>
          </a:p>
          <a:p>
            <a:pPr indent="-323850" lvl="0" marL="457200" rtl="0" algn="l">
              <a:spcBef>
                <a:spcPts val="0"/>
              </a:spcBef>
              <a:spcAft>
                <a:spcPts val="0"/>
              </a:spcAft>
              <a:buSzPts val="1500"/>
              <a:buChar char="-"/>
            </a:pPr>
            <a:r>
              <a:rPr lang="en" sz="1500"/>
              <a:t>In order to plan for the week, we needed to allow for users to assign </a:t>
            </a:r>
            <a:r>
              <a:rPr lang="en" sz="1500"/>
              <a:t>their</a:t>
            </a:r>
            <a:r>
              <a:rPr lang="en" sz="1500"/>
              <a:t> selections to a day and initiate a new search without losing </a:t>
            </a:r>
            <a:r>
              <a:rPr lang="en" sz="1500"/>
              <a:t>their</a:t>
            </a:r>
            <a:r>
              <a:rPr lang="en" sz="1500"/>
              <a:t> selections or refreshing the page each time.</a:t>
            </a:r>
            <a:endParaRPr sz="1500"/>
          </a:p>
          <a:p>
            <a:pPr indent="-323850" lvl="0" marL="457200" rtl="0" algn="l">
              <a:spcBef>
                <a:spcPts val="0"/>
              </a:spcBef>
              <a:spcAft>
                <a:spcPts val="0"/>
              </a:spcAft>
              <a:buSzPts val="1500"/>
              <a:buChar char="-"/>
            </a:pPr>
            <a:r>
              <a:rPr lang="en" sz="1500"/>
              <a:t>Someone can choose meals for one or multiple days, or choose multiple meals for a day.</a:t>
            </a:r>
            <a:endParaRPr sz="1500"/>
          </a:p>
          <a:p>
            <a:pPr indent="-323850" lvl="0" marL="457200" rtl="0" algn="l">
              <a:spcBef>
                <a:spcPts val="0"/>
              </a:spcBef>
              <a:spcAft>
                <a:spcPts val="0"/>
              </a:spcAft>
              <a:buSzPts val="1500"/>
              <a:buChar char="-"/>
            </a:pPr>
            <a:r>
              <a:rPr lang="en" sz="1500"/>
              <a:t>Demo by choosing 3 meals for 3 days. -   Ask audience for participation</a:t>
            </a:r>
            <a:endParaRPr sz="1500"/>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Page 2 + Page 3 Glow-UP - Katherine</a:t>
            </a:r>
            <a:endParaRPr/>
          </a:p>
        </p:txBody>
      </p:sp>
      <p:sp>
        <p:nvSpPr>
          <p:cNvPr id="122" name="Google Shape;122;p19"/>
          <p:cNvSpPr txBox="1"/>
          <p:nvPr>
            <p:ph idx="1" type="body"/>
          </p:nvPr>
        </p:nvSpPr>
        <p:spPr>
          <a:xfrm>
            <a:off x="547800" y="1907800"/>
            <a:ext cx="8052000" cy="3007500"/>
          </a:xfrm>
          <a:prstGeom prst="rect">
            <a:avLst/>
          </a:prstGeom>
        </p:spPr>
        <p:txBody>
          <a:bodyPr anchorCtr="0" anchor="t" bIns="91425" lIns="91425" spcFirstLastPara="1" rIns="91425" wrap="square" tIns="91425">
            <a:normAutofit fontScale="85000" lnSpcReduction="20000"/>
          </a:bodyPr>
          <a:lstStyle/>
          <a:p>
            <a:pPr indent="-312082" lvl="0" marL="457200" rtl="0" algn="l">
              <a:spcBef>
                <a:spcPts val="0"/>
              </a:spcBef>
              <a:spcAft>
                <a:spcPts val="0"/>
              </a:spcAft>
              <a:buSzPct val="100000"/>
              <a:buChar char="-"/>
            </a:pPr>
            <a:r>
              <a:rPr lang="en" sz="1546"/>
              <a:t>Page 2 became a much more functional  </a:t>
            </a:r>
            <a:endParaRPr sz="1546"/>
          </a:p>
          <a:p>
            <a:pPr indent="-301287" lvl="1" marL="914400" rtl="0" algn="l">
              <a:spcBef>
                <a:spcPts val="0"/>
              </a:spcBef>
              <a:spcAft>
                <a:spcPts val="0"/>
              </a:spcAft>
              <a:buSzPct val="100000"/>
              <a:buChar char="-"/>
            </a:pPr>
            <a:r>
              <a:rPr lang="en" sz="1346"/>
              <a:t>Further explore the recipes you selected by looking at a visual of the finished product, and exploring the steps to create the recipes</a:t>
            </a:r>
            <a:endParaRPr sz="1346"/>
          </a:p>
          <a:p>
            <a:pPr indent="-301287" lvl="1" marL="914400" rtl="0" algn="l">
              <a:spcBef>
                <a:spcPts val="0"/>
              </a:spcBef>
              <a:spcAft>
                <a:spcPts val="0"/>
              </a:spcAft>
              <a:buSzPct val="100000"/>
              <a:buChar char="-"/>
            </a:pPr>
            <a:r>
              <a:rPr lang="en" sz="1346"/>
              <a:t>An initial grocery list is presented to you, which you can now de-select from if you already have these ingredients at home! -- Again this is dedupped based on your recipes for the week</a:t>
            </a:r>
            <a:endParaRPr sz="1346"/>
          </a:p>
          <a:p>
            <a:pPr indent="-301287" lvl="1" marL="914400" rtl="0" algn="l">
              <a:spcBef>
                <a:spcPts val="0"/>
              </a:spcBef>
              <a:spcAft>
                <a:spcPts val="0"/>
              </a:spcAft>
              <a:buSzPct val="100000"/>
              <a:buChar char="-"/>
            </a:pPr>
            <a:r>
              <a:rPr lang="en" sz="1346"/>
              <a:t>DEMO THE DESELECTION</a:t>
            </a:r>
            <a:endParaRPr sz="1346"/>
          </a:p>
          <a:p>
            <a:pPr indent="-312082" lvl="0" marL="457200" rtl="0" algn="l">
              <a:spcBef>
                <a:spcPts val="0"/>
              </a:spcBef>
              <a:spcAft>
                <a:spcPts val="0"/>
              </a:spcAft>
              <a:buSzPct val="100000"/>
              <a:buChar char="-"/>
            </a:pPr>
            <a:r>
              <a:rPr lang="en" sz="1546"/>
              <a:t>Page 3:</a:t>
            </a:r>
            <a:endParaRPr sz="1546"/>
          </a:p>
          <a:p>
            <a:pPr indent="-312082" lvl="0" marL="457200" rtl="0" algn="l">
              <a:spcBef>
                <a:spcPts val="0"/>
              </a:spcBef>
              <a:spcAft>
                <a:spcPts val="0"/>
              </a:spcAft>
              <a:buSzPct val="100000"/>
              <a:buChar char="-"/>
            </a:pPr>
            <a:r>
              <a:rPr lang="en" sz="1546"/>
              <a:t>From here, you will go to the final page that contains a  grocery list with prices and price totals. </a:t>
            </a:r>
            <a:endParaRPr sz="1546"/>
          </a:p>
          <a:p>
            <a:pPr indent="-312082" lvl="0" marL="457200" rtl="0" algn="l">
              <a:spcBef>
                <a:spcPts val="0"/>
              </a:spcBef>
              <a:spcAft>
                <a:spcPts val="0"/>
              </a:spcAft>
              <a:buSzPct val="100000"/>
              <a:buChar char="-"/>
            </a:pPr>
            <a:r>
              <a:rPr lang="en" sz="1546"/>
              <a:t>This page also includes recommendations for future dishes to try, based on the dishes you’ve selected, and a map of Giant locations, which you can filter based on your zipcode!-- DEMO THE MAP</a:t>
            </a:r>
            <a:endParaRPr sz="1546"/>
          </a:p>
          <a:p>
            <a:pPr indent="-312082" lvl="0" marL="457200" rtl="0" algn="l">
              <a:spcBef>
                <a:spcPts val="0"/>
              </a:spcBef>
              <a:spcAft>
                <a:spcPts val="0"/>
              </a:spcAft>
              <a:buSzPct val="100000"/>
              <a:buChar char="-"/>
            </a:pPr>
            <a:r>
              <a:rPr lang="en" sz="1546"/>
              <a:t>At this point, you can now also print the page so you have a copy of your final grocery list, recommendations and the grocery store location closest to you</a:t>
            </a:r>
            <a:endParaRPr sz="1546"/>
          </a:p>
          <a:p>
            <a:pPr indent="-312082" lvl="0" marL="457200" rtl="0" algn="l">
              <a:spcBef>
                <a:spcPts val="0"/>
              </a:spcBef>
              <a:spcAft>
                <a:spcPts val="0"/>
              </a:spcAft>
              <a:buSzPct val="100000"/>
              <a:buChar char="-"/>
            </a:pPr>
            <a:r>
              <a:rPr lang="en" sz="1546"/>
              <a:t>PRINT THE PAGE AND SHOW THAT YOU CAN EASILY HAVE ALL THE INFO AT YOUR FINGERTIPS</a:t>
            </a:r>
            <a:endParaRPr sz="1546"/>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Different</a:t>
            </a:r>
            <a:r>
              <a:rPr lang="en"/>
              <a:t> Project Management Approach- Sree</a:t>
            </a:r>
            <a:endParaRPr/>
          </a:p>
        </p:txBody>
      </p:sp>
      <p:sp>
        <p:nvSpPr>
          <p:cNvPr id="128" name="Google Shape;128;p20"/>
          <p:cNvSpPr txBox="1"/>
          <p:nvPr>
            <p:ph idx="1" type="body"/>
          </p:nvPr>
        </p:nvSpPr>
        <p:spPr>
          <a:xfrm>
            <a:off x="729450" y="1853850"/>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018"/>
              <a:buNone/>
            </a:pPr>
            <a:r>
              <a:rPr lang="en" sz="1302"/>
              <a:t>-Took time to review Project 2 and identify must have and nice to have improvements </a:t>
            </a:r>
            <a:endParaRPr sz="1302"/>
          </a:p>
          <a:p>
            <a:pPr indent="0" lvl="0" marL="0" rtl="0" algn="l">
              <a:spcBef>
                <a:spcPts val="1200"/>
              </a:spcBef>
              <a:spcAft>
                <a:spcPts val="0"/>
              </a:spcAft>
              <a:buSzPts val="1018"/>
              <a:buNone/>
            </a:pPr>
            <a:r>
              <a:rPr lang="en" sz="1302"/>
              <a:t>-Created storyboards early on to determine new site functionality</a:t>
            </a:r>
            <a:endParaRPr sz="1302"/>
          </a:p>
          <a:p>
            <a:pPr indent="0" lvl="0" marL="0" rtl="0" algn="l">
              <a:spcBef>
                <a:spcPts val="1200"/>
              </a:spcBef>
              <a:spcAft>
                <a:spcPts val="0"/>
              </a:spcAft>
              <a:buSzPts val="1018"/>
              <a:buNone/>
            </a:pPr>
            <a:r>
              <a:rPr lang="en" sz="1302"/>
              <a:t>- Planned out assignments more clearly. What had to be done by the first, second, and third week of project work </a:t>
            </a:r>
            <a:endParaRPr sz="1302"/>
          </a:p>
          <a:p>
            <a:pPr indent="0" lvl="0" marL="0" rtl="0" algn="l">
              <a:spcBef>
                <a:spcPts val="1200"/>
              </a:spcBef>
              <a:spcAft>
                <a:spcPts val="0"/>
              </a:spcAft>
              <a:buSzPts val="1018"/>
              <a:buNone/>
            </a:pPr>
            <a:r>
              <a:rPr lang="en" sz="1302"/>
              <a:t>- Worked smarter, by assigning individuals tasks and then coming back together to check progress or </a:t>
            </a:r>
            <a:r>
              <a:rPr lang="en" sz="1302"/>
              <a:t>solve</a:t>
            </a:r>
            <a:r>
              <a:rPr lang="en" sz="1302"/>
              <a:t> difficult issues</a:t>
            </a:r>
            <a:endParaRPr sz="1302"/>
          </a:p>
          <a:p>
            <a:pPr indent="0" lvl="0" marL="0" rtl="0" algn="l">
              <a:spcBef>
                <a:spcPts val="1200"/>
              </a:spcBef>
              <a:spcAft>
                <a:spcPts val="1200"/>
              </a:spcAft>
              <a:buSzPts val="1018"/>
              <a:buNone/>
            </a:pPr>
            <a:r>
              <a:rPr lang="en" sz="1302"/>
              <a:t>- One major issue we faced though was maxing out on API calls, not being able to use keys at the same time others were using to call, and ended up costing some $$$ and time</a:t>
            </a:r>
            <a:endParaRPr sz="1302"/>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1"/>
          <p:cNvSpPr txBox="1"/>
          <p:nvPr>
            <p:ph type="title"/>
          </p:nvPr>
        </p:nvSpPr>
        <p:spPr>
          <a:xfrm>
            <a:off x="826800" y="675000"/>
            <a:ext cx="8317200" cy="813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would have been next steps with time? - Val/Brooke/Katherine</a:t>
            </a:r>
            <a:endParaRPr/>
          </a:p>
        </p:txBody>
      </p:sp>
      <p:sp>
        <p:nvSpPr>
          <p:cNvPr id="134" name="Google Shape;134;p21"/>
          <p:cNvSpPr txBox="1"/>
          <p:nvPr>
            <p:ph idx="1" type="body"/>
          </p:nvPr>
        </p:nvSpPr>
        <p:spPr>
          <a:xfrm>
            <a:off x="342900" y="1488900"/>
            <a:ext cx="8701800" cy="3710700"/>
          </a:xfrm>
          <a:prstGeom prst="rect">
            <a:avLst/>
          </a:prstGeom>
        </p:spPr>
        <p:txBody>
          <a:bodyPr anchorCtr="0" anchor="t" bIns="91425" lIns="91425" spcFirstLastPara="1" rIns="91425" wrap="square" tIns="91425">
            <a:normAutofit fontScale="62500"/>
          </a:bodyPr>
          <a:lstStyle/>
          <a:p>
            <a:pPr indent="0" lvl="0" marL="0" rtl="0" algn="l">
              <a:spcBef>
                <a:spcPts val="0"/>
              </a:spcBef>
              <a:spcAft>
                <a:spcPts val="0"/>
              </a:spcAft>
              <a:buNone/>
            </a:pPr>
            <a:r>
              <a:rPr lang="en" sz="2155"/>
              <a:t>-Additional UX fixes re: drop downs (Some problems translating Project 2 to 3 with new webpage template)</a:t>
            </a:r>
            <a:endParaRPr sz="2155"/>
          </a:p>
          <a:p>
            <a:pPr indent="0" lvl="0" marL="0" rtl="0" algn="l">
              <a:spcBef>
                <a:spcPts val="1200"/>
              </a:spcBef>
              <a:spcAft>
                <a:spcPts val="0"/>
              </a:spcAft>
              <a:buNone/>
            </a:pPr>
            <a:r>
              <a:rPr lang="en" sz="2155"/>
              <a:t>- Found a way to better incorporate wine pairings!</a:t>
            </a:r>
            <a:endParaRPr sz="2155"/>
          </a:p>
          <a:p>
            <a:pPr indent="0" lvl="0" marL="0" rtl="0" algn="l">
              <a:spcBef>
                <a:spcPts val="1200"/>
              </a:spcBef>
              <a:spcAft>
                <a:spcPts val="0"/>
              </a:spcAft>
              <a:buNone/>
            </a:pPr>
            <a:r>
              <a:rPr lang="en" sz="2155"/>
              <a:t>Commit deeper effort to Machine Learning and providing data based on user preferences</a:t>
            </a:r>
            <a:endParaRPr sz="2155"/>
          </a:p>
          <a:p>
            <a:pPr indent="0" lvl="0" marL="0" rtl="0" algn="l">
              <a:spcBef>
                <a:spcPts val="1200"/>
              </a:spcBef>
              <a:spcAft>
                <a:spcPts val="0"/>
              </a:spcAft>
              <a:buNone/>
            </a:pPr>
            <a:r>
              <a:rPr lang="en" sz="2155"/>
              <a:t>	To that point we would 1 further explore the algorithms behind the Spoonacular API</a:t>
            </a:r>
            <a:endParaRPr sz="2155"/>
          </a:p>
          <a:p>
            <a:pPr indent="0" lvl="0" marL="0" rtl="0" algn="l">
              <a:spcBef>
                <a:spcPts val="1200"/>
              </a:spcBef>
              <a:spcAft>
                <a:spcPts val="0"/>
              </a:spcAft>
              <a:buNone/>
            </a:pPr>
            <a:r>
              <a:rPr lang="en" sz="2155"/>
              <a:t>	Try to collect some “user data” to further refine recommendations for users</a:t>
            </a:r>
            <a:endParaRPr sz="2155"/>
          </a:p>
          <a:p>
            <a:pPr indent="0" lvl="0" marL="0" rtl="0" algn="l">
              <a:spcBef>
                <a:spcPts val="1200"/>
              </a:spcBef>
              <a:spcAft>
                <a:spcPts val="0"/>
              </a:spcAft>
              <a:buNone/>
            </a:pPr>
            <a:r>
              <a:rPr lang="en" sz="2155"/>
              <a:t>	Add in a login to have a “saved selections” or “saved recipe box”</a:t>
            </a:r>
            <a:endParaRPr sz="2155"/>
          </a:p>
          <a:p>
            <a:pPr indent="0" lvl="0" marL="0" rtl="0" algn="l">
              <a:spcBef>
                <a:spcPts val="1200"/>
              </a:spcBef>
              <a:spcAft>
                <a:spcPts val="0"/>
              </a:spcAft>
              <a:buNone/>
            </a:pPr>
            <a:r>
              <a:rPr lang="en" sz="2155"/>
              <a:t>-Explore additional features of the API --- There are so many! But this would also end up getting super expensive</a:t>
            </a:r>
            <a:endParaRPr sz="2155"/>
          </a:p>
          <a:p>
            <a:pPr indent="0" lvl="0" marL="0" rtl="0" algn="l">
              <a:spcBef>
                <a:spcPts val="1200"/>
              </a:spcBef>
              <a:spcAft>
                <a:spcPts val="0"/>
              </a:spcAft>
              <a:buNone/>
            </a:pPr>
            <a:r>
              <a:rPr lang="en" sz="2155"/>
              <a:t>- Create a video with Val’s cheer as a message from our founders to  motivate new cooks</a:t>
            </a:r>
            <a:endParaRPr sz="2155"/>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